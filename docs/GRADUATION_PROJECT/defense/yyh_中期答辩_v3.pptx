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89646-9A1E-C94C-76A4-BC90217F9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99CC2A-D1D5-BE5F-A681-A376658CA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59456-2E3A-7265-C3AC-97BDE8FF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99A79-50A2-3CE7-1F88-BD943C8E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84702-061A-9282-6C60-0BAB23BE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38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5E2D-389E-C09D-6429-A717AABB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12CFF-E2E8-56BD-9828-F8C9B96E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D5F14-2305-AEF4-08D8-1AC873D5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FB4133-1B2E-66D8-F6F7-E8B4509C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40197-2D88-4311-D786-A0E4F675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4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52065-049F-3053-F13B-F2960715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6406D0-7ADA-AF89-EA4F-1A0C51047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65C54-25FF-A550-3D16-B842452A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E1CB1-02DC-A0F3-7421-55A411AE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1C747-7560-62CB-682D-E328C94F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8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87A5F-6EC5-B7EB-18BC-36CACA3A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B7165-B7C7-3643-8215-F37FE3323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106B8F-C6DA-6BE3-135D-D1065E17F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44A011-30C7-27E0-4423-8249597B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7876FF-FD85-5AAB-6E97-DD9CB8BB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072C0-9E88-2CBB-ED9D-BB5F1960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087D8-BC1F-40AB-37CC-A6F7B25E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7FF14-6EC8-210C-9F07-A3B77717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4FAD3D-5A7B-A185-020D-2D261F1A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E3399C-BC82-A800-C157-433279665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54DAB2-615A-51AC-9956-844B41304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333D9F-D313-5855-BE40-FF066A6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E57D9B-D489-349B-D1E4-9C82B7E4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1E08D6-8252-4F62-5813-D9C84758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F9AB1-BB5F-B0E8-555F-431AA463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725061-6B79-1CF9-BB08-C3003C0C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B07E8F-1E03-563C-531E-0DD80CEC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AF3B26-B6E3-59F8-B410-C8DEF7F9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7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CFA887-7410-4CAB-88BD-8ED8BD0F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449DB4-A1EC-BF50-B57B-C073EBB3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D9C55-179B-CF91-FECF-2B20A04C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16932-9B42-1778-B8D9-439E64DE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734BE-71F9-999C-0AF8-AF23034E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F1A8B4-85AF-07D5-8BAA-919EE859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D598-A638-8396-6A2E-DCFD2C62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AD62F-D2CB-259C-A219-2546614A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CCD8-7E86-F1A4-892C-66C6F1BC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80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A3DC5-BE8B-DA12-D647-04622968D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DE90D9-CDE4-CBA2-DDDF-50C45FE86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9EF419-35C5-A740-20D7-FE4A9C83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431F7-9DB6-7FF5-B091-DE1E765D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192536-F1B2-0DD9-7B3A-9A84FD6E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FACF3E-4DEE-FBA6-76C1-C86BB50F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6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419B7-8D08-8AD5-AA5C-AEE941ED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8E266C-7F62-F7D2-DBF7-0CDA2A0FB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8990C-6325-3C14-7CF7-33205DDE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19092-EEB1-DB47-5302-888B9CB1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89282-F528-AF54-91A2-D9ABBE01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36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D6816E-6986-3189-65BF-30D872C86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D634F-096F-74D1-2FDA-935F1AA8C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9B5B4-4CAA-3A17-A645-753E949D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A9C79-01F4-470C-DD9A-4910453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BA5DF-3F22-D359-0968-192F8AC2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807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145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2CFD8-EF7E-CD51-3544-CA28F3A4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E0536-0389-AE47-4169-F4F2353AE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7FB5A-72F4-F1A0-F6F9-87F50B8AB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9B09C-2465-3DC3-A895-6C01F3AAA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0DC0F3-3F10-430A-F810-496CBF173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3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1806121805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13107" y="4426808"/>
            <a:ext cx="596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答辩人: 杨倚航    学号: 12211113    导师: 柯文德</a:t>
            </a:r>
            <a:r>
              <a:rPr lang="zh-CN" altLang="en-US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答辩人: 杨倚航    学号: 12211113    导师: 柯文德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90710" y="6448425"/>
            <a:ext cx="2701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solidFill>
                  <a:srgbClr val="2B7585"/>
                </a:solidFill>
                <a:latin typeface="Times New Roman" panose="02020603050405020304" charset="0"/>
                <a:ea typeface="微软雅黑" panose="020B0503020204020204" charset="-122"/>
              </a:rPr>
              <a:t>南方科技大学 · 2026年3月</a:t>
            </a:r>
            <a:endParaRPr lang="zh-CN" altLang="en-US" b="1" dirty="0">
              <a:solidFill>
                <a:srgbClr val="2B7585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245110" y="2317567"/>
            <a:ext cx="11705590" cy="16829"/>
          </a:xfrm>
          <a:prstGeom prst="line">
            <a:avLst/>
          </a:prstGeom>
          <a:ln>
            <a:solidFill>
              <a:srgbClr val="369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855" y="0"/>
            <a:ext cx="2701290" cy="1947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3750" y="-94625"/>
            <a:ext cx="10972800" cy="204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基于六轴机械臂和麦轮底盘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视觉伺服物流机器人</a:t>
            </a:r>
            <a:endParaRPr lang="zh-CN" altLang="en-US" sz="2400" b="1" dirty="0">
              <a:solidFill>
                <a:srgbClr val="ED6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3"/>
          <p:cNvSpPr txBox="1"/>
          <p:nvPr/>
        </p:nvSpPr>
        <p:spPr>
          <a:xfrm>
            <a:off x="266700" y="3104212"/>
            <a:ext cx="11658600" cy="101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中期答辩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1 ·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2/19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900000"/>
            <a:ext cx="57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赛题需求: RoboMaster工程机器人赛项需在3分钟内完成矿石采集→搬运→兑换全流程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现有方案痛点: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纯手动遥控6DOF机械臂，精度低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操作手反应延迟，效率受限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无法多任务并行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本项目定位: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自主抓取物流机器人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视觉伺服闭环控制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感知→规划→执行 全链路自动化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0" y="900000"/>
            <a:ext cx="378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[比赛场地照片]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520000"/>
            <a:ext cx="3780000" cy="12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[矿石搬运示意图]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研究目标与任务分解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1 ·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3/19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827999"/>
            <a:ext cx="11328000" cy="46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总目标: 设计并实现一套基于ROS2的六轴机械臂视觉伺服控制系统，用于自主矿石搬运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子任务1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运动学建模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6DOF逆运动学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D-H位姿解耦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计算&lt;50μs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0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4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子任务2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动力学力矩控制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4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KDL动力学前馈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级联PID控制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速度后处理·200Hz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8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2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子任务3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嵌入式系统开发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2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STM32+CAN总线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FSM状态机·7状态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Seasky协议·1000Hz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6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0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微软雅黑"/>
              </a:rPr>
              <a:t>子任务4 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0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视觉伺服集成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0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YOLOv8目标检测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PnP位姿估计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闭环抓取(进行中)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3492000"/>
            <a:ext cx="11328000" cy="18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2000" y="3492000"/>
            <a:ext cx="8496000" cy="18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6000" y="347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微软雅黑"/>
              </a:rPr>
              <a:t>进度 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系统总体架构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4/19</a:t>
            </a:r>
          </a:p>
        </p:txBody>
      </p:sp>
      <p:pic>
        <p:nvPicPr>
          <p:cNvPr id="6" name="Picture 5" descr="system_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548" y="792000"/>
            <a:ext cx="2612903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0" y="90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B7585"/>
                </a:solidFill>
                <a:latin typeface="微软雅黑"/>
              </a:rPr>
              <a:t>关键数据流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74C3C"/>
                </a:solidFill>
                <a:latin typeface="Consolas"/>
              </a:rPr>
              <a:t>↓ /effort_controller/commands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   6轴力矩(Nm) + 1夹爪力(N) = 7元素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200Hz 下发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764BA"/>
                </a:solidFill>
                <a:latin typeface="Consolas"/>
              </a:rPr>
              <a:t>↑ /joint_states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   7关节(位置+速度+存活标志)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200Hz 上报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通信协议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USB-UART 921600 baud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Seasky自定义协议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CRC8(头)+CRC16(全帧) 双校验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硬件平台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5/19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4680000" cy="30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[机器人实物照片 📷1/📷2
用箭头标注J1~J6和夹爪位置]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0" y="900000"/>
          <a:ext cx="46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800000"/>
                <a:gridCol w="1800000"/>
              </a:tblGrid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关节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电机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力矩限制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GM6020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1.2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7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夹爪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棱柱副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70 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0" y="306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夹爪: 电机驱动棱柱副, 0~40mm行程, 峰值70N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底盘: M3508×4 麦克纳姆轮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主控: STM32F4 · 通信: USB-UART 921600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软件技术栈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6/19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900000"/>
            <a:ext cx="6480000" cy="5760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95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2000" y="954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Mission Executor · Trajectory Manager · Cartesian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584000"/>
            <a:ext cx="6480000" cy="5760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63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规划层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2000" y="1638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MoveIt2 + Pilz Industrial Motion Planner (LIN/PTP)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268000"/>
            <a:ext cx="6480000" cy="5760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232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控制层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000" y="2322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KDL动力学 · 级联PID · 速度后处理滤波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2952000"/>
            <a:ext cx="6480000" cy="5760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300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接口层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2000" y="3006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MuJoCo + ImGui/ImPlot · Seasky串口 + serial_driver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36000"/>
            <a:ext cx="6480000" cy="5760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69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2000" y="369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ROS2 Jazzy · Eigen3 · GLFW · yaml-cpp · ncurses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0" y="900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7585"/>
                </a:solidFill>
                <a:latin typeface="微软雅黑"/>
              </a:rPr>
              <a:t>代码规模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740000" y="1188000"/>
          <a:ext cx="25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080000"/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行数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ROS2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6,990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配置 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840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CMake+Launch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1,248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STM32 嵌入式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~175K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~184K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40000" y="28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7AE60"/>
                </a:solidFill>
                <a:latin typeface="微软雅黑"/>
              </a:rPr>
              <a:t>✅ 上层可依赖下层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74C3C"/>
                </a:solidFill>
                <a:latin typeface="微软雅黑"/>
              </a:rPr>
              <a:t>❌ 禁止反向依赖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22个ROS2依赖包 · 13个编译目标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运动学算法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7/19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4320000" cy="198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[D-H坐标系图 🎨2
标注6个关节轴和连杆参数]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0000" y="900000"/>
            <a:ext cx="2520000" cy="1368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8000" y="936000"/>
            <a:ext cx="230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88E5"/>
                </a:solidFill>
                <a:latin typeface="微软雅黑"/>
              </a:rPr>
              <a:t>位置IK (J1-J3)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方法: 解析几何法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1. 求腕部中心 Pw=Pee-d6·R·ẑ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2. 几何投影求 θ1,θ2,θ3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每组≤2个解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0000" y="900000"/>
            <a:ext cx="2520000" cy="1368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8000" y="936000"/>
            <a:ext cx="230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</a:rPr>
              <a:t>姿态IK (J4-J6)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方法: 旋转矩阵分解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1. R₃₆ = (R₀₃)⁻¹ · R₀₆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2. ZYZ欧拉角提取θ4,θ5,θ6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atan2求解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0000" y="2448000"/>
            <a:ext cx="5220000" cy="360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总计算时间 &lt; 50μs @ STM32F4 · 满足1000Hz实时需求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0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4A55"/>
                </a:solidFill>
                <a:latin typeface="Times New Roman"/>
              </a:rPr>
              <a:t>Pw = Pee - d₆ · Rtarget · ẑ        θ₁ = atan2(Pwy, Pwx)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状态机与控制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8/19</a:t>
            </a:r>
          </a:p>
        </p:txBody>
      </p:sp>
      <p:pic>
        <p:nvPicPr>
          <p:cNvPr id="6" name="Picture 5" descr="f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582" y="792000"/>
            <a:ext cx="3250836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0" y="90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1ms主循环 (1000Hz硬实时)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C++模板化接口，易扩展新状态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多协议电机统一驱动: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DJI (C620/C610)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达妙 (DM-J8009)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瓴控 (LK Motor)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任意状态可触发紧急复位(Escape)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通信与集成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9/19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27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7585"/>
                </a:solidFill>
                <a:latin typeface="微软雅黑"/>
              </a:rPr>
              <a:t>Seasky串口协议 (USB-UART, 921600 baud)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00800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440000"/>
                <a:gridCol w="1260000"/>
                <a:gridCol w="1440000"/>
                <a:gridCol w="1260000"/>
                <a:gridCol w="198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SOF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DataLen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CRC8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CmdID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Flags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Payload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CRC16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0xA5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180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│← Header(4B) →│← Data →│← CRC →│   CRC8校验头 + CRC16全帧校验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2088000"/>
          <a:ext cx="100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440000"/>
                <a:gridCol w="1080000"/>
                <a:gridCol w="63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CmdID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频率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MCU→PC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关节反馈 (7×pos+vel+alive) 84B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6轴力矩指令 24B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夹爪动作 1B (GRIP/RELEASE/STOP)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MCU→PC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按需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任务指令 3B (cmd+param+seq)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状态反馈 4B (state+progress+error+gripper)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ROS2 节点拓扑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10/19</a:t>
            </a:r>
          </a:p>
        </p:txBody>
      </p:sp>
      <p:pic>
        <p:nvPicPr>
          <p:cNvPr id="6" name="Picture 5" descr="ros2_topolog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648" y="792000"/>
            <a:ext cx="4198704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0000" y="900000"/>
            <a:ext cx="2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B7585"/>
                </a:solidFill>
                <a:latin typeface="微软雅黑"/>
              </a:rPr>
              <a:t>7个节点 · 200Hz控制环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话题: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/joint_states (7关节)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/effort_commands (7元素)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服务: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/gripper_control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/list_trajectories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/move_to_cartesian_rpy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Action: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/follow_joint_trajectory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控制算法 — 动力学前馈 ★★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11/19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827999"/>
            <a:ext cx="11328000" cy="648000"/>
          </a:xfrm>
          <a:prstGeom prst="roundRect">
            <a:avLst/>
          </a:prstGeom>
          <a:solidFill>
            <a:srgbClr val="FC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864000"/>
            <a:ext cx="109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1A4A55"/>
                </a:solidFill>
                <a:latin typeface="Times New Roman"/>
              </a:rPr>
              <a:t>τ = M(q)q̈ + C(q,q̇) + G(q) + τ_PID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惯性力      科氏+离心     重力      PID反馈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实现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KDL::ChainDynParam 求解M/C/G矩阵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URDF自动解析关节链 · 计算 &lt;1ms @200Hz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5C00"/>
                </a:solidFill>
                <a:latin typeface="微软雅黑"/>
              </a:rPr>
              <a:t>· 编码器速度信号经后处理滤波平滑 (消除高频噪声)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2700000"/>
          <a:ext cx="50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3600000"/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模式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RELAX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零力矩, 电机断力 (上电默认)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FREEDRIVE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仅重力补偿G(q), 可拖动教学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OVERDRIVE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G(q)+PD反馈, 锁位保持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全前馈+PID, 轨迹执行中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0000" y="1620000"/>
            <a:ext cx="43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控制框图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q_target → MoveIt2轨迹生成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333"/>
                </a:solidFill>
                <a:latin typeface="Times New Roman"/>
              </a:rPr>
              <a:t>τ_ff = M(q)q̈ + C(q,q̇) + G(q)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→ 前馈力矩 (消除重力/惯性)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333"/>
                </a:solidFill>
                <a:latin typeface="Times New Roman"/>
              </a:rPr>
              <a:t>τ_fb = 级联PID(e_pos, e_vel)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→ 反馈校正 (消除跟踪误差)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τ_total = τ_ff + τ_fb → 电机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控制算法 — 级联PID ★★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12/19</a:t>
            </a:r>
          </a:p>
        </p:txBody>
      </p:sp>
      <p:pic>
        <p:nvPicPr>
          <p:cNvPr id="6" name="Picture 5" descr="cascade_p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59" y="827999"/>
            <a:ext cx="5178082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21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4A55"/>
                </a:solidFill>
                <a:latin typeface="Times New Roman"/>
              </a:rPr>
              <a:t>外环: v_ref = clamp(Kp·e_pos + Ki·∫e_pos, -v_max, +v_max)        内环: τ_fb = Kp_vel·e_vel + Ki_vel·∫e_vel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2700000"/>
          <a:ext cx="61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1620000"/>
              </a:tblGrid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关节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pos_Kp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pos_Ki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vel_Kp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vel_Ki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vel_lim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20000" y="270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近端(J1-3): 高增益 ← J8009大力矩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远端(J4-6): 低增益 ← 小电机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三重抗积分饱和: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条件积分(e&lt;0.1rad)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积分限幅(max_integral)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急停清零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所有Kd=0: 纯P+PI结构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MuJoCo仿真与数字孪生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13/19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5400000" cy="30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[MuJoCo仿真窗口截图 🖥1
含ImGui参数面板 + ImPlot实时曲线叠加]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9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E88E5"/>
                </a:solidFill>
                <a:latin typeface="微软雅黑"/>
              </a:rPr>
              <a:t>① 物理仿真模式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MuJoCo物理引擎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力矩输入 → 物理响应 · 碰撞检测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算法开发调试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</a:rPr>
              <a:t>② 数字孪生模式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· visualization_only=true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真机数据驱动 · 实时3D同步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现场监控调试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700000"/>
            <a:ext cx="4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可视化特性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ImGui参数面板 (实时调参)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ImPlot实时曲线 (位置/速度/力矩)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障碍物场景渲染 (矿石框+能量块)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应用层 — 轨迹管理与任务执行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14/19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onsolas"/>
              </a:rPr>
              <a:t>Trajectory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轨迹管理 (518行)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YAML持久化 保存/加载/执行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ROS2 Action 异步执行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4个Service: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/list · /load · /save · /save_last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4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onsolas"/>
              </a:rPr>
              <a:t>Mission 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4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任务执行 (1194行)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4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ncurses TUI 终端交互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19态状态机 pick_and_deliver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快捷键 [E]执行 [X]复位 [T]轨迹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操控手指令 via CmdID 0x0005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2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B47BC"/>
                </a:solidFill>
                <a:latin typeface="Consolas"/>
              </a:rPr>
              <a:t>Cartesian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2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笛卡尔控制 (491行)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2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Pilz规划器 LIN/PTP · 自动降级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球形工作空间 r∈[0.01,0.8]m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视觉伺服接口预留 20Hz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Service: /move_to_cartesian_rpy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Sim2Real — 仿真→真机全链路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15/19</a:t>
            </a:r>
          </a:p>
        </p:txBody>
      </p:sp>
      <p:pic>
        <p:nvPicPr>
          <p:cNvPr id="6" name="Picture 5" descr="sim2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89" y="900000"/>
            <a:ext cx="5070422" cy="9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2000" y="1980000"/>
            <a:ext cx="504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[真机运行照 📷7
机器人执行矿石搬运动作]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0" y="1980000"/>
            <a:ext cx="468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[数字孪生截图 🖥2
MuJoCo实时同步真机姿态]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3600000"/>
          <a:ext cx="1008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800000"/>
                <a:gridCol w="1800000"/>
                <a:gridCol w="2160000"/>
                <a:gridCol w="2160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ROS2 C++ 源码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配置 YAML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CMake+Launch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STM32 嵌入式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6,990行 (16文件)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840行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1,248行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~175K行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~184K行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实验验证数据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16/19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5040000" cy="162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[关节跟踪精度 🖥3-a
蓝:目标  红:实际  绿:误差]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0000" y="900000"/>
            <a:ext cx="4680000" cy="162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[力矩响应对比 🖥3-b
蓝:有前馈  红:纯PID]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2700000"/>
          <a:ext cx="486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700000"/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实测值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控制频率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 (5ms周期)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控制回路延迟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5ms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动力学计算耗时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1ms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IK计算(STM32)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50μs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串口波特率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921,600 baud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0000" y="2700000"/>
          <a:ext cx="468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700000"/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安全保护机制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触发条件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传感器超时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100ms无数据→急停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位置误差急停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&gt; 0.8 rad触发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速度越限拒绝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&gt; 20 rad/s丢弃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力矩限幅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各关节独立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NaN/Inf检测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实时检查→零力矩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遇到的问题与解决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4 · 问题与计划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17/19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90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① 启动关节漂移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29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电机上电瞬间力矩为零，
关节在重力下下坠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000" y="115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8000" y="108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00" y="129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首帧位置自动锁定为目标
(HOLD模式)，立即施加G(q)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198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② 力矩输出震荡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23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16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37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编码器速度信号噪声大，
PID输出严重抖动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0000" y="223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8000" y="216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8000" y="237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速度信号后处理滤波平滑
(参数在线可调)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06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③ MuJoCo黑屏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1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24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45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多线程同时访问OpenGL
上下文导致渲染崩溃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0000" y="331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8000" y="324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8000" y="345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OpenGL上下文隔离到
专用渲染线程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后续工作计划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4 · 问题与计划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18/19</a:t>
            </a:r>
          </a:p>
        </p:txBody>
      </p:sp>
      <p:pic>
        <p:nvPicPr>
          <p:cNvPr id="6" name="Picture 5" descr="gantt_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97800"/>
            <a:ext cx="9720000" cy="100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2880000"/>
            <a:ext cx="11328000" cy="540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核心目标: 打通 视觉检测→位姿估计→运动规划→力矩执行 完整闭环
(cartesian_controller已预留20Hz接口)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600000"/>
            <a:ext cx="113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4A55"/>
                </a:solidFill>
                <a:latin typeface="微软雅黑"/>
              </a:rPr>
              <a:t>3月: 视觉伺服 (YOLOv8+PnP+标定)    4月: 闭环抓取联调    4月底: 论文定稿    5月底: 终期答辩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19/19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900000"/>
            <a:ext cx="102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7585"/>
                </a:solidFill>
                <a:latin typeface="微软雅黑"/>
              </a:rPr>
              <a:t>谢谢各位老师！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80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4A55"/>
                </a:solidFill>
                <a:latin typeface="微软雅黑"/>
              </a:rPr>
              <a:t>感谢导师 柯文德 教授的悉心指导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4A55"/>
                </a:solidFill>
                <a:latin typeface="微软雅黑"/>
              </a:rPr>
              <a:t>感谢实验室团队的大力支持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7585"/>
                </a:solidFill>
                <a:latin typeface="微软雅黑"/>
              </a:rPr>
              <a:t>欢迎提问与指导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A1042</dc:creator>
  <cp:lastModifiedBy>A1042</cp:lastModifiedBy>
  <cp:revision>1</cp:revision>
  <dcterms:created xsi:type="dcterms:W3CDTF">2026-03-03T18:52:42Z</dcterms:created>
  <dcterms:modified xsi:type="dcterms:W3CDTF">2026-03-03T20:00:41Z</dcterms:modified>
</cp:coreProperties>
</file>